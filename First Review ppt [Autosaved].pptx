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</p:sldMasterIdLst>
  <p:notesMasterIdLst>
    <p:notesMasterId r:id="rId28"/>
  </p:notesMasterIdLst>
  <p:sldIdLst>
    <p:sldId id="305" r:id="rId4"/>
    <p:sldId id="273" r:id="rId5"/>
    <p:sldId id="257" r:id="rId6"/>
    <p:sldId id="269" r:id="rId7"/>
    <p:sldId id="264" r:id="rId8"/>
    <p:sldId id="326" r:id="rId9"/>
    <p:sldId id="327" r:id="rId10"/>
    <p:sldId id="328" r:id="rId11"/>
    <p:sldId id="329" r:id="rId12"/>
    <p:sldId id="333" r:id="rId13"/>
    <p:sldId id="379" r:id="rId14"/>
    <p:sldId id="358" r:id="rId15"/>
    <p:sldId id="356" r:id="rId16"/>
    <p:sldId id="355" r:id="rId17"/>
    <p:sldId id="354" r:id="rId18"/>
    <p:sldId id="303" r:id="rId19"/>
    <p:sldId id="282" r:id="rId20"/>
    <p:sldId id="284" r:id="rId21"/>
    <p:sldId id="285" r:id="rId22"/>
    <p:sldId id="351" r:id="rId23"/>
    <p:sldId id="292" r:id="rId24"/>
    <p:sldId id="287" r:id="rId25"/>
    <p:sldId id="352" r:id="rId26"/>
    <p:sldId id="341" r:id="rId27"/>
  </p:sldIdLst>
  <p:sldSz cx="9144000" cy="6858000" type="screen4x3"/>
  <p:notesSz cx="6805613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71" autoAdjust="0"/>
  </p:normalViewPr>
  <p:slideViewPr>
    <p:cSldViewPr>
      <p:cViewPr varScale="1">
        <p:scale>
          <a:sx n="91" d="100"/>
          <a:sy n="91" d="100"/>
        </p:scale>
        <p:origin x="1195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274FC-FEBD-4950-902E-2813466A1D5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19D78-6902-461C-97CB-29D788CA90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11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819D78-6902-461C-97CB-29D788CA90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994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19D78-6902-461C-97CB-29D788CA90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809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CC01-5561-4058-ADF4-58FA76B8C75D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65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9144-9044-469A-8EA0-F772E91D4D08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2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1D89-8511-476D-8E47-601FC4063FAF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81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20CF-6188-4FD7-9B66-7B51F41D7A54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98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D1223-1EF7-400A-9209-55E783E45EAF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850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2C0D-E5E1-408E-AB37-76D5D0396394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9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7F87-A15F-43A8-B3F0-2D480FCADA36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86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21A9-E1F4-412A-BCDC-DE81F0EE958F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4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C4C99-1857-4B03-8ED1-F246C76F70F6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216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0A4F-2F2B-4670-AA48-4C57D5223F38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818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4DC-C0BA-45AF-B589-9FE74A07170F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53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610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365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096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175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17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8884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8021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680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8231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9961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705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CC01-5561-4058-ADF4-58FA76B8C75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7074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9144-9044-469A-8EA0-F772E91D4D0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4540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1D89-8511-476D-8E47-601FC4063F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1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20CF-6188-4FD7-9B66-7B51F41D7A5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479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D1223-1EF7-400A-9209-55E783E45E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0501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2C0D-E5E1-408E-AB37-76D5D03963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7800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7F87-A15F-43A8-B3F0-2D480FCADA3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2644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21A9-E1F4-412A-BCDC-DE81F0EE958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0006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C4C99-1857-4B03-8ED1-F246C76F70F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201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0A4F-2F2B-4670-AA48-4C57D5223F3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74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4DC-C0BA-45AF-B589-9FE74A07170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273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0D5CF-D6D3-41B6-9700-0C7F98678DF8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EB60E-8CC1-451C-9B62-D60627ACAA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51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CF222-425A-48F6-97D6-7DA6EEEFD79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25787-6BC5-444F-9F25-00F767F7B5D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765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0D5CF-D6D3-41B6-9700-0C7F98678DF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EB60E-8CC1-451C-9B62-D60627ACAA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45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" y="3999788"/>
            <a:ext cx="8305800" cy="106680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itchFamily="18" charset="0"/>
              </a:rPr>
              <a:t>Design and Development of an Intelligent Real-Time Traffic Flow Prediction and Congestion Analysis System Using Long Short-Term Memory (LSTM) Deep Learning Networks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5638800" y="5308209"/>
            <a:ext cx="33528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spcBef>
                <a:spcPct val="20000"/>
              </a:spcBef>
            </a:pPr>
            <a:r>
              <a:rPr 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GUIDED BY</a:t>
            </a:r>
          </a:p>
          <a:p>
            <a:pPr lvl="0">
              <a:spcBef>
                <a:spcPct val="20000"/>
              </a:spcBef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Ms. A. Sunitha M.E, (</a:t>
            </a:r>
            <a:r>
              <a:rPr lang="en-US" sz="1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Ph.d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)</a:t>
            </a:r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AP/CSE</a:t>
            </a:r>
            <a:endParaRPr lang="zh-CN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endParaRPr lang="en-US" sz="3200" dirty="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76868" y="5355744"/>
            <a:ext cx="5181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JOHNSON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(REG NO:212922104025)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EVARENCE BESKI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NO:212922104016)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YEAR  B.E (CSE)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51131" y="2918970"/>
            <a:ext cx="85725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  <a:defRPr/>
            </a:pPr>
            <a:r>
              <a:rPr lang="en-US" sz="2400" b="1" dirty="0">
                <a:solidFill>
                  <a:prstClr val="black">
                    <a:lumMod val="95000"/>
                    <a:lumOff val="5000"/>
                  </a:prstClr>
                </a:solidFill>
                <a:latin typeface="Algerian" panose="04020705040A02060702" pitchFamily="82" charset="0"/>
                <a:cs typeface="Times New Roman" pitchFamily="18" charset="0"/>
              </a:rPr>
              <a:t>DEPARTMENT OF  COMPUTER SCIENCE AND ENGINEERING</a:t>
            </a:r>
            <a:r>
              <a:rPr lang="en-US" sz="2400" b="1" dirty="0">
                <a:solidFill>
                  <a:prstClr val="black">
                    <a:tint val="75000"/>
                  </a:prstClr>
                </a:solidFill>
                <a:latin typeface="Algerian" panose="04020705040A02060702" pitchFamily="82" charset="0"/>
                <a:cs typeface="Times New Roman" pitchFamily="18" charset="0"/>
              </a:rPr>
              <a:t>      </a:t>
            </a:r>
          </a:p>
          <a:p>
            <a:pPr algn="ctr">
              <a:spcBef>
                <a:spcPct val="20000"/>
              </a:spcBef>
              <a:buFont typeface="Arial" charset="0"/>
              <a:buNone/>
              <a:defRPr/>
            </a:pPr>
            <a:endParaRPr lang="en-US" sz="2000" b="1" dirty="0">
              <a:solidFill>
                <a:prstClr val="black">
                  <a:tint val="75000"/>
                </a:prstClr>
              </a:solidFill>
              <a:latin typeface="Algerian" panose="04020705040A02060702" pitchFamily="82" charset="0"/>
              <a:cs typeface="Times New Roman" pitchFamily="18" charset="0"/>
            </a:endParaRPr>
          </a:p>
          <a:p>
            <a:pPr algn="ctr">
              <a:spcBef>
                <a:spcPct val="20000"/>
              </a:spcBef>
              <a:buFont typeface="Arial" charset="0"/>
              <a:buNone/>
              <a:defRPr/>
            </a:pPr>
            <a:endParaRPr lang="en-US" sz="2000" b="1" dirty="0">
              <a:solidFill>
                <a:prstClr val="black">
                  <a:tint val="75000"/>
                </a:prstClr>
              </a:solidFill>
              <a:latin typeface="Algerian" panose="04020705040A02060702" pitchFamily="82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207052-CA2B-4D7A-4CAB-3564DB6AC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26" y="209377"/>
            <a:ext cx="8626205" cy="13239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1FC795-B1D6-9825-21FC-15BD9737D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346" y="1590329"/>
            <a:ext cx="1376363" cy="137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7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260" y="212727"/>
            <a:ext cx="7886700" cy="7778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594360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 is a major problem in urban areas, causing delays, fuel wastage, and pollution. Accurate real-time traffic prediction is essential for smart transportation systems.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statistical and machine learning models fail to effectively capture long-term temporal dependencies in traffic time-series data.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intelligent real-time traffic flow prediction and congestion analysis system using Long Short-Term Memory (LSTM) deep learning networks to improve forecasting accuracy.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predicts short-term traffic flow and classifies congestion levels, helping authorities and commuters make better route decisions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endParaRPr lang="en-US" sz="2400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endParaRPr 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24260" y="339875"/>
            <a:ext cx="7886700" cy="650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5183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8196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implement an LSTM-based real-time traffic flow prediction and congestion analysis system that improves short-term forecasting accuracy using time-series traffic data.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32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1560" y="33265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7"/>
            <a:ext cx="9144000" cy="8540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EXISTING SYSTEM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 lnSpcReduction="10000"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prediction mainly uses statistical models like ARIMA and traditional machine learning algorithms such as Linear Regression and SVM.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cannot effectively capture long-term temporal dependencies present in traffic time-series data.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accuracy decreases during peak hours and dynamic traffic conditions.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are not optimized for real-time congestion analysis in smart transportation environments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endParaRPr lang="en-US" sz="8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endParaRPr lang="en-US" sz="8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Char char="Ø"/>
            </a:pPr>
            <a:endParaRPr lang="en-US" sz="8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533400"/>
            <a:ext cx="9144000" cy="104765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PROPOSED SYSTEM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839200" cy="4876800"/>
          </a:xfrm>
        </p:spPr>
        <p:txBody>
          <a:bodyPr>
            <a:no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Long Short-Term Memory (LSTM) deep learning networks to model sequential traffic data.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captures long-term temporal patterns and improves short-term traffic flow forecasting accuracy.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performs real-time traffic prediction and classifies congestion levels (Low, Medium, High).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scalable and suitable for intelligent transportation and smart city applications.</a:t>
            </a:r>
          </a:p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33600"/>
            <a:ext cx="5562600" cy="18288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LITERATURE SURVEY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335100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676400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Traffic Speed Prediction Using a Multi-Objective Genetic Algorithm-Enhanced RNN for Intelligent Transportation Systems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Author: C .Swetha Priya and F .Sagayaraj Francis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905000"/>
            <a:ext cx="8610600" cy="4572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This paper proposes a Multi-Objective Genetic Algorithm enhanced Recurrent Neural Network (RNN) model to optimize traffic speed prediction accuracy and model performance for intelligent transportation systems.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Multi-objective optimization improves prediction accuracy and model efficiency simultaneously.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RNN performance by automatically selecting optimal hyperparameters.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intelligent transportation systems requiring optimized and adaptive traffic speed prediction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Genetic Algorithm with RNN increases computational complexity and processing time.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careful parameter tuning for both the Genetic Algorithm and RNN to achieve optimal performance.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implementation complexity compared to standard deep learning models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495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763000" cy="1295400"/>
          </a:xfrm>
        </p:spPr>
        <p:txBody>
          <a:bodyPr>
            <a:noAutofit/>
          </a:bodyPr>
          <a:lstStyle/>
          <a:p>
            <a:pPr algn="ctr"/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Performance and improvement of deep learning algorithms based on LSTM in traffic flow prediction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Author: 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 Xu1, Eric </a:t>
            </a:r>
            <a:r>
              <a:rPr lang="es-E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Blancaflor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s-E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Mideth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Abisado1</a:t>
            </a:r>
            <a:br>
              <a:rPr lang="en-IN" sz="2400" b="1" dirty="0">
                <a:latin typeface="Times New Roman" pitchFamily="18" charset="0"/>
                <a:cs typeface="Times New Roman" pitchFamily="18" charset="0"/>
              </a:rPr>
            </a:b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5625"/>
            <a:ext cx="8458200" cy="435133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This paper analyzes the performance of Long Short-Term Memory (LSTM) deep learning models and proposes improvements to enhance accuracy in traffic flow prediction for intelligent transportation systems.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effectively captures long-term temporal dependencies in traffic time-series data.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higher prediction accuracy compared to traditional statistical models.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traffic flow forecasting in intelligent transportation systems.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models require large amounts of historical traffic data for effective training.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deep learning models like LSTM can take longer computational time.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may decrease if traffic data contains noise or missing values.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3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1521618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novel CNN‑GRU‑LSTM based deep learning model for accurate traffic prediction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Vandana Singh1, Sudip Kumar Sahana1,Vandana Bhattacharjee1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725" y="1445418"/>
            <a:ext cx="8210550" cy="39671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This paper proposes a hybrid deep learning architecture combining CNN, GRU, and LSTM networks to improve traffic flow prediction accuracy by capturing both spatial and temporal traffic patterns.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342900" indent="-34290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both spatial features (via CNN) and temporal dependencies (via GRU and LSTM).</a:t>
            </a:r>
          </a:p>
          <a:p>
            <a:pPr marL="342900" indent="-34290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higher prediction accuracy compared to traditional and single deep learning models.</a:t>
            </a:r>
          </a:p>
          <a:p>
            <a:pPr marL="342900" indent="-34290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complex urban traffic environments with dynamic traffic variations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marL="285750" indent="-28575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CNN-GRU-LSTM model increases computational complexity and training time.</a:t>
            </a:r>
          </a:p>
          <a:p>
            <a:pPr marL="285750" indent="-28575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large-scale traffic datasets for effective performance.</a:t>
            </a:r>
          </a:p>
          <a:p>
            <a:pPr marL="285750" indent="-28575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implementation complexity compared to single-model approaches like LSTM alone.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74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884" y="381000"/>
            <a:ext cx="9144000" cy="7778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SYSTEM REQUIREMENTS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2950" cy="48768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System                          :  Windows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Language                :  Python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Framework            :  TensorFlow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                                         :  OpenCV, NumPy,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 / Tool                                      :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                                      :  Intel i5 or higher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                                            :   Minimum 8 GB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                                         :   256 GB HDD / SSD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GPU (Optional)                             :   NVIDIA GPU for faster training</a:t>
            </a:r>
          </a:p>
          <a:p>
            <a:pPr marL="0" indent="0">
              <a:buNone/>
            </a:pPr>
            <a:endParaRPr lang="en-IN" sz="23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2300" dirty="0"/>
          </a:p>
          <a:p>
            <a:pPr marL="0" indent="0">
              <a:buNone/>
            </a:pPr>
            <a:r>
              <a:rPr lang="en-US" sz="2300" dirty="0"/>
              <a:t> </a:t>
            </a:r>
            <a:endParaRPr lang="en-IN" sz="2300" dirty="0"/>
          </a:p>
          <a:p>
            <a:pPr marL="0" indent="0">
              <a:buNone/>
            </a:pP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1466366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-7374" y="3048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ARCHITECTURE DIAGRAM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F5A965-B17A-6B48-51B9-BB6AE43CE863}"/>
              </a:ext>
            </a:extLst>
          </p:cNvPr>
          <p:cNvCxnSpPr>
            <a:cxnSpLocks/>
          </p:cNvCxnSpPr>
          <p:nvPr/>
        </p:nvCxnSpPr>
        <p:spPr>
          <a:xfrm>
            <a:off x="7042269" y="3734499"/>
            <a:ext cx="9524" cy="4789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44E331-1E4F-BAA8-E9A8-F8CA840E5BEA}"/>
              </a:ext>
            </a:extLst>
          </p:cNvPr>
          <p:cNvCxnSpPr>
            <a:cxnSpLocks/>
          </p:cNvCxnSpPr>
          <p:nvPr/>
        </p:nvCxnSpPr>
        <p:spPr>
          <a:xfrm>
            <a:off x="2819400" y="2822108"/>
            <a:ext cx="5777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C13CA6-2FCE-D4AD-7036-4ADC59623DC6}"/>
              </a:ext>
            </a:extLst>
          </p:cNvPr>
          <p:cNvCxnSpPr>
            <a:cxnSpLocks/>
          </p:cNvCxnSpPr>
          <p:nvPr/>
        </p:nvCxnSpPr>
        <p:spPr>
          <a:xfrm>
            <a:off x="5486400" y="2809874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2A905B-1950-A75B-6D06-CAC3C7584501}"/>
              </a:ext>
            </a:extLst>
          </p:cNvPr>
          <p:cNvCxnSpPr>
            <a:cxnSpLocks/>
          </p:cNvCxnSpPr>
          <p:nvPr/>
        </p:nvCxnSpPr>
        <p:spPr>
          <a:xfrm flipH="1">
            <a:off x="5524500" y="4961840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A1359F3-E123-03E5-3479-A37881091967}"/>
              </a:ext>
            </a:extLst>
          </p:cNvPr>
          <p:cNvSpPr/>
          <p:nvPr/>
        </p:nvSpPr>
        <p:spPr>
          <a:xfrm>
            <a:off x="6019800" y="4257675"/>
            <a:ext cx="2438400" cy="1295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Layer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Value Handling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Normalization</a:t>
            </a:r>
          </a:p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91A982-6F1E-1C32-3B8B-86D50955BD64}"/>
              </a:ext>
            </a:extLst>
          </p:cNvPr>
          <p:cNvSpPr/>
          <p:nvPr/>
        </p:nvSpPr>
        <p:spPr>
          <a:xfrm>
            <a:off x="6019800" y="1812458"/>
            <a:ext cx="2044939" cy="193768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layer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Deep Learning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C8B6AF-29EA-D052-1E9E-5FE8008B9931}"/>
              </a:ext>
            </a:extLst>
          </p:cNvPr>
          <p:cNvSpPr/>
          <p:nvPr/>
        </p:nvSpPr>
        <p:spPr>
          <a:xfrm>
            <a:off x="3397122" y="1812458"/>
            <a:ext cx="2044957" cy="20193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Monitoring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A0506D-BF59-871E-E7E4-6F9F6C8D7D28}"/>
              </a:ext>
            </a:extLst>
          </p:cNvPr>
          <p:cNvSpPr/>
          <p:nvPr/>
        </p:nvSpPr>
        <p:spPr>
          <a:xfrm>
            <a:off x="844438" y="1812458"/>
            <a:ext cx="1930635" cy="20193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Display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2331D6-6C3E-F20C-65E4-D1D6DCACCFA6}"/>
              </a:ext>
            </a:extLst>
          </p:cNvPr>
          <p:cNvCxnSpPr>
            <a:cxnSpLocks/>
          </p:cNvCxnSpPr>
          <p:nvPr/>
        </p:nvCxnSpPr>
        <p:spPr>
          <a:xfrm>
            <a:off x="844438" y="2362200"/>
            <a:ext cx="19306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F58C66-14B3-96A6-9A2D-76FB6834D32A}"/>
              </a:ext>
            </a:extLst>
          </p:cNvPr>
          <p:cNvCxnSpPr>
            <a:cxnSpLocks/>
          </p:cNvCxnSpPr>
          <p:nvPr/>
        </p:nvCxnSpPr>
        <p:spPr>
          <a:xfrm>
            <a:off x="6019800" y="4648200"/>
            <a:ext cx="2438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BAB84CD-FE92-3697-5123-8483CA67D5D0}"/>
              </a:ext>
            </a:extLst>
          </p:cNvPr>
          <p:cNvCxnSpPr>
            <a:cxnSpLocks/>
          </p:cNvCxnSpPr>
          <p:nvPr/>
        </p:nvCxnSpPr>
        <p:spPr>
          <a:xfrm>
            <a:off x="6019800" y="2286000"/>
            <a:ext cx="2044939" cy="38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9D22C8-9479-AABD-06EE-50B05F6B796F}"/>
              </a:ext>
            </a:extLst>
          </p:cNvPr>
          <p:cNvCxnSpPr>
            <a:cxnSpLocks/>
          </p:cNvCxnSpPr>
          <p:nvPr/>
        </p:nvCxnSpPr>
        <p:spPr>
          <a:xfrm>
            <a:off x="3397122" y="2286000"/>
            <a:ext cx="20449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0A1359F3-E123-03E5-3479-A37881091967}"/>
              </a:ext>
            </a:extLst>
          </p:cNvPr>
          <p:cNvSpPr/>
          <p:nvPr/>
        </p:nvSpPr>
        <p:spPr>
          <a:xfrm>
            <a:off x="3395068" y="4156978"/>
            <a:ext cx="2109695" cy="16097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 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Traffic Records</a:t>
            </a:r>
          </a:p>
          <a:p>
            <a:pPr algn="ctr"/>
            <a:endParaRPr lang="en-IN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35D7876-75DC-E6E9-C04A-B609388148EC}"/>
              </a:ext>
            </a:extLst>
          </p:cNvPr>
          <p:cNvCxnSpPr>
            <a:cxnSpLocks/>
          </p:cNvCxnSpPr>
          <p:nvPr/>
        </p:nvCxnSpPr>
        <p:spPr>
          <a:xfrm>
            <a:off x="3395068" y="4481497"/>
            <a:ext cx="2109695" cy="265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23CA6AD-5F87-E846-87A6-7906982B3F27}"/>
              </a:ext>
            </a:extLst>
          </p:cNvPr>
          <p:cNvSpPr/>
          <p:nvPr/>
        </p:nvSpPr>
        <p:spPr>
          <a:xfrm>
            <a:off x="709705" y="4181475"/>
            <a:ext cx="2198531" cy="2219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 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Traffic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Status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Reports</a:t>
            </a:r>
          </a:p>
          <a:p>
            <a:pPr algn="ctr"/>
            <a:endParaRPr lang="en-IN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03149E8-6E11-B42E-FD3D-1842943D9DDD}"/>
              </a:ext>
            </a:extLst>
          </p:cNvPr>
          <p:cNvCxnSpPr>
            <a:cxnSpLocks/>
          </p:cNvCxnSpPr>
          <p:nvPr/>
        </p:nvCxnSpPr>
        <p:spPr>
          <a:xfrm flipH="1">
            <a:off x="2908236" y="5134627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D07A5E3-2222-B60B-D0BF-5CEECEF52A73}"/>
              </a:ext>
            </a:extLst>
          </p:cNvPr>
          <p:cNvCxnSpPr>
            <a:cxnSpLocks/>
          </p:cNvCxnSpPr>
          <p:nvPr/>
        </p:nvCxnSpPr>
        <p:spPr>
          <a:xfrm>
            <a:off x="709705" y="4693085"/>
            <a:ext cx="21985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DF0D9EF-3DA3-B791-936A-3DF4E8A9EF24}"/>
              </a:ext>
            </a:extLst>
          </p:cNvPr>
          <p:cNvSpPr/>
          <p:nvPr/>
        </p:nvSpPr>
        <p:spPr>
          <a:xfrm>
            <a:off x="964452" y="1008301"/>
            <a:ext cx="1689036" cy="5170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5CDAF2F-3B99-4E58-AC26-F0D1B1640DCC}"/>
              </a:ext>
            </a:extLst>
          </p:cNvPr>
          <p:cNvCxnSpPr>
            <a:cxnSpLocks/>
          </p:cNvCxnSpPr>
          <p:nvPr/>
        </p:nvCxnSpPr>
        <p:spPr>
          <a:xfrm>
            <a:off x="1905000" y="1555985"/>
            <a:ext cx="0" cy="2564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7A784365-02F2-17AC-4361-8C1C469A1261}"/>
              </a:ext>
            </a:extLst>
          </p:cNvPr>
          <p:cNvSpPr/>
          <p:nvPr/>
        </p:nvSpPr>
        <p:spPr>
          <a:xfrm>
            <a:off x="6019800" y="5783533"/>
            <a:ext cx="1968566" cy="66808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64A5621-D9B0-DB95-F0D9-1387E5CAF0ED}"/>
              </a:ext>
            </a:extLst>
          </p:cNvPr>
          <p:cNvCxnSpPr>
            <a:cxnSpLocks/>
          </p:cNvCxnSpPr>
          <p:nvPr/>
        </p:nvCxnSpPr>
        <p:spPr>
          <a:xfrm flipV="1">
            <a:off x="4267200" y="5834682"/>
            <a:ext cx="0" cy="2530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2590187-568B-8491-723B-901C4B8C5F57}"/>
              </a:ext>
            </a:extLst>
          </p:cNvPr>
          <p:cNvCxnSpPr>
            <a:cxnSpLocks/>
            <a:stCxn id="52" idx="2"/>
          </p:cNvCxnSpPr>
          <p:nvPr/>
        </p:nvCxnSpPr>
        <p:spPr>
          <a:xfrm flipH="1" flipV="1">
            <a:off x="2879661" y="6087780"/>
            <a:ext cx="3140139" cy="297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835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BB0FD-60EA-0F07-55B4-4A43A6F6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DATA FLOW DIAGRAM LEVEL 0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714989-59A5-A136-88A0-C46941D57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28800"/>
            <a:ext cx="7886700" cy="43018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EB1C92-E211-F0A2-CA3D-DCE2BE2B9C9D}"/>
              </a:ext>
            </a:extLst>
          </p:cNvPr>
          <p:cNvSpPr txBox="1"/>
          <p:nvPr/>
        </p:nvSpPr>
        <p:spPr>
          <a:xfrm>
            <a:off x="4648200" y="2590800"/>
            <a:ext cx="2944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for Traffic Prediction</a:t>
            </a:r>
          </a:p>
        </p:txBody>
      </p:sp>
    </p:spTree>
    <p:extLst>
      <p:ext uri="{BB962C8B-B14F-4D97-AF65-F5344CB8AC3E}">
        <p14:creationId xmlns:p14="http://schemas.microsoft.com/office/powerpoint/2010/main" val="1072447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B25-6CE8-50CA-210D-5E1CD730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DATA FLOW DIAGRAM LEVEL 1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77A7E1-FDEA-54C4-BDD3-82C9712E4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22428"/>
            <a:ext cx="8610600" cy="5105400"/>
          </a:xfrm>
        </p:spPr>
      </p:pic>
    </p:spTree>
    <p:extLst>
      <p:ext uri="{BB962C8B-B14F-4D97-AF65-F5344CB8AC3E}">
        <p14:creationId xmlns:p14="http://schemas.microsoft.com/office/powerpoint/2010/main" val="177819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07CA-54E6-FC2F-C7E3-6BC8D9D6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DATA FLOW DIAGRAM LEVEL 2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A3F408-74BB-0574-FED1-4E8F45450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03348"/>
            <a:ext cx="7886700" cy="5089526"/>
          </a:xfrm>
        </p:spPr>
      </p:pic>
    </p:spTree>
    <p:extLst>
      <p:ext uri="{BB962C8B-B14F-4D97-AF65-F5344CB8AC3E}">
        <p14:creationId xmlns:p14="http://schemas.microsoft.com/office/powerpoint/2010/main" val="1463087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4EB2-EE49-7BD4-9FE0-6733F2DF6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DATA FLOW DIAGRAM LEVEL 2(Contd.)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AAC8FC-9779-A862-9001-88E64D81D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90689"/>
            <a:ext cx="7886700" cy="4802185"/>
          </a:xfrm>
        </p:spPr>
      </p:pic>
    </p:spTree>
    <p:extLst>
      <p:ext uri="{BB962C8B-B14F-4D97-AF65-F5344CB8AC3E}">
        <p14:creationId xmlns:p14="http://schemas.microsoft.com/office/powerpoint/2010/main" val="353334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0"/>
            <a:ext cx="6934200" cy="29718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MODULES AND MODULES DESCRIPTION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78439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10668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00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. Data Collection Module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2. Data Preprocessing Module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3. Feature Engineering Module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4. LSTM Model Development Module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5. Traffic Prediction Module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6.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Analysis And Visualization Module 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 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423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1.DATA COLLECTION MODULE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2578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historical traffic flow data from public traffic datasets or sensors.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time-based traffic information such as vehicle count, speed, and timestamps.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collected data in a structured format for further processing.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58330" y="5029200"/>
            <a:ext cx="1600200" cy="6096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Accquisition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4992848"/>
            <a:ext cx="1905000" cy="6096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Traffic Data Sources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843868" y="5303241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5158530" y="5334000"/>
            <a:ext cx="9675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89B73EF-DBCA-7641-97B5-42B6612C408D}"/>
              </a:ext>
            </a:extLst>
          </p:cNvPr>
          <p:cNvSpPr/>
          <p:nvPr/>
        </p:nvSpPr>
        <p:spPr>
          <a:xfrm>
            <a:off x="6181288" y="5029200"/>
            <a:ext cx="1600200" cy="6096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Raw Data Storage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876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676400"/>
          </a:xfrm>
        </p:spPr>
        <p:txBody>
          <a:bodyPr>
            <a:noAutofit/>
          </a:bodyPr>
          <a:lstStyle/>
          <a:p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2. DATA PREPROCESSING MODULE</a:t>
            </a:r>
            <a:br>
              <a:rPr lang="en-US" sz="3600" b="1" dirty="0"/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missing values and inconsistent traffic records.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traffic data to improve model training performance.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raw traffic data into time-series sequences suitable for prediction.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668592" y="3086100"/>
            <a:ext cx="2207414" cy="6858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Raw Traffic Data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88960" y="5091698"/>
            <a:ext cx="1981200" cy="6858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Missing Value Handle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29538" y="4080803"/>
            <a:ext cx="2057400" cy="6858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Cleaning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rot="5400000">
            <a:off x="3616579" y="3926539"/>
            <a:ext cx="305594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209D2EF-D555-F11D-2A06-99C6DDFA9C56}"/>
              </a:ext>
            </a:extLst>
          </p:cNvPr>
          <p:cNvSpPr/>
          <p:nvPr/>
        </p:nvSpPr>
        <p:spPr>
          <a:xfrm>
            <a:off x="2668591" y="6110982"/>
            <a:ext cx="2409033" cy="6858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Normalization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DF76F7-D040-2385-BDED-F2B846CBE5DF}"/>
              </a:ext>
            </a:extLst>
          </p:cNvPr>
          <p:cNvCxnSpPr/>
          <p:nvPr/>
        </p:nvCxnSpPr>
        <p:spPr>
          <a:xfrm rot="5400000">
            <a:off x="3633799" y="5954293"/>
            <a:ext cx="305594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CE9B1B-FD15-3DE8-5691-B740A16AA7D3}"/>
              </a:ext>
            </a:extLst>
          </p:cNvPr>
          <p:cNvCxnSpPr/>
          <p:nvPr/>
        </p:nvCxnSpPr>
        <p:spPr>
          <a:xfrm rot="5400000">
            <a:off x="3633005" y="4937106"/>
            <a:ext cx="305594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262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89038"/>
          </a:xfrm>
        </p:spPr>
        <p:txBody>
          <a:bodyPr>
            <a:noAutofit/>
          </a:bodyPr>
          <a:lstStyle/>
          <a:p>
            <a:b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3.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MODULE</a:t>
            </a:r>
            <a:b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 features such as traffic volume, time intervals, and day patterns.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input sequences required for the LSTM model.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training and testing sets.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09600" y="4402256"/>
            <a:ext cx="1970111" cy="5334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Preprocessed Data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8400" y="4343400"/>
            <a:ext cx="2438400" cy="5334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Sequence Generation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29000" y="4402256"/>
            <a:ext cx="2228114" cy="5334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Time-Series Convert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0" y="5562600"/>
            <a:ext cx="2286000" cy="5334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Train-Test Spilt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2579711" y="4648200"/>
            <a:ext cx="849289" cy="207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658703" y="4648200"/>
            <a:ext cx="589697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0" idx="0"/>
          </p:cNvCxnSpPr>
          <p:nvPr/>
        </p:nvCxnSpPr>
        <p:spPr>
          <a:xfrm rot="5400000">
            <a:off x="6896100" y="5219700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344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4. LSTM MODEL DEVELOPMENT MODULE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686800" cy="5059362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Long Short-Term Memory (LSTM) neural network architecture.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historical traffic data to learn temporal patterns.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 parameters to improve prediction accuracy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3400" y="4572000"/>
            <a:ext cx="1752600" cy="6096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Input Sequences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cxnSpLocks/>
            <a:stCxn id="4" idx="3"/>
          </p:cNvCxnSpPr>
          <p:nvPr/>
        </p:nvCxnSpPr>
        <p:spPr>
          <a:xfrm>
            <a:off x="2286000" y="4876800"/>
            <a:ext cx="7620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>
            <a:off x="5219700" y="4876800"/>
            <a:ext cx="4953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53101" y="4588778"/>
            <a:ext cx="2095491" cy="4572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Pattern Learning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67403" y="5475374"/>
            <a:ext cx="1676390" cy="773025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Model Evaluation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2403DC-48E0-F714-0BA0-DD4B8991ABEF}"/>
              </a:ext>
            </a:extLst>
          </p:cNvPr>
          <p:cNvSpPr/>
          <p:nvPr/>
        </p:nvSpPr>
        <p:spPr>
          <a:xfrm>
            <a:off x="3086101" y="4572000"/>
            <a:ext cx="2095498" cy="6096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LSTM Model Training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FA5C23-CDF6-8DDC-F478-CEFD236AACF4}"/>
              </a:ext>
            </a:extLst>
          </p:cNvPr>
          <p:cNvCxnSpPr>
            <a:cxnSpLocks/>
          </p:cNvCxnSpPr>
          <p:nvPr/>
        </p:nvCxnSpPr>
        <p:spPr>
          <a:xfrm>
            <a:off x="6489604" y="5045978"/>
            <a:ext cx="0" cy="4175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267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5.TRAFFIC PREDICTION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trained LSTM model to predict future traffic flow values.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short-term traffic forecasts for upcoming time intervals.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predicted traffic patterns for decision 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42950" y="4712865"/>
            <a:ext cx="1447800" cy="6858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Trained Model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95900" y="4686300"/>
            <a:ext cx="1633536" cy="6096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Generate Forecast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95600" y="4762500"/>
            <a:ext cx="1828800" cy="5334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Predict Future Flow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209800" y="5029200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762500" y="5027612"/>
            <a:ext cx="533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0" y="4724400"/>
            <a:ext cx="1633536" cy="5334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Predicted output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cxnSpLocks/>
          </p:cNvCxnSpPr>
          <p:nvPr/>
        </p:nvCxnSpPr>
        <p:spPr>
          <a:xfrm>
            <a:off x="6929436" y="5027612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078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D195-22AE-2D65-7EC1-573502C3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/>
              <a:t> 6.   CONGESTION ANALYSIS AND      VISUALIZATION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4D3D5-2C83-401D-9F1E-04C94FB09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predicted traffic levels into congestion categories (Low, Medium, High).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prediction results using graphs and charts.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to support intelligent traffic management.</a:t>
            </a: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0BAA7-4C4B-014E-3D72-67CEF762457A}"/>
              </a:ext>
            </a:extLst>
          </p:cNvPr>
          <p:cNvSpPr/>
          <p:nvPr/>
        </p:nvSpPr>
        <p:spPr>
          <a:xfrm>
            <a:off x="742950" y="4712865"/>
            <a:ext cx="1924050" cy="6858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Predicted Traffic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C315FC-EA45-AD78-640C-A70D8AEC6C71}"/>
              </a:ext>
            </a:extLst>
          </p:cNvPr>
          <p:cNvSpPr/>
          <p:nvPr/>
        </p:nvSpPr>
        <p:spPr>
          <a:xfrm>
            <a:off x="6738133" y="5829299"/>
            <a:ext cx="1913352" cy="6858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Visualization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085DDC-0A6C-CB8F-CAB1-AFDFA1C88236}"/>
              </a:ext>
            </a:extLst>
          </p:cNvPr>
          <p:cNvSpPr/>
          <p:nvPr/>
        </p:nvSpPr>
        <p:spPr>
          <a:xfrm>
            <a:off x="3657599" y="4691064"/>
            <a:ext cx="1924049" cy="6858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Threshold Check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BFFECB-CFAA-2379-6111-23632C2AC552}"/>
              </a:ext>
            </a:extLst>
          </p:cNvPr>
          <p:cNvSpPr/>
          <p:nvPr/>
        </p:nvSpPr>
        <p:spPr>
          <a:xfrm>
            <a:off x="6477000" y="4530754"/>
            <a:ext cx="1771652" cy="6858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Level Classification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E779F1-69C8-0447-08B8-44C2A159E60B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667000" y="5033964"/>
            <a:ext cx="990599" cy="202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FE0889-CF1D-51D7-88FD-99DA1736BDBA}"/>
              </a:ext>
            </a:extLst>
          </p:cNvPr>
          <p:cNvCxnSpPr>
            <a:cxnSpLocks/>
          </p:cNvCxnSpPr>
          <p:nvPr/>
        </p:nvCxnSpPr>
        <p:spPr>
          <a:xfrm>
            <a:off x="5581648" y="4953000"/>
            <a:ext cx="89535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253C94-AE5B-6A35-BB4C-A87CA52DF3C0}"/>
              </a:ext>
            </a:extLst>
          </p:cNvPr>
          <p:cNvCxnSpPr>
            <a:cxnSpLocks/>
          </p:cNvCxnSpPr>
          <p:nvPr/>
        </p:nvCxnSpPr>
        <p:spPr>
          <a:xfrm>
            <a:off x="7362826" y="5216554"/>
            <a:ext cx="0" cy="6127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559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1362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03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5199</TotalTime>
  <Words>1209</Words>
  <Application>Microsoft Office PowerPoint</Application>
  <PresentationFormat>On-screen Show (4:3)</PresentationFormat>
  <Paragraphs>196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2_Office Theme</vt:lpstr>
      <vt:lpstr>Design and Development of an Intelligent Real-Time Traffic Flow Prediction and Congestion Analysis System Using Long Short-Term Memory (LSTM) Deep Learning Networks</vt:lpstr>
      <vt:lpstr>ABSTRACT</vt:lpstr>
      <vt:lpstr>OBJECTIVE</vt:lpstr>
      <vt:lpstr>EXISTING SYSTEM</vt:lpstr>
      <vt:lpstr>PROPOSED SYSTEM</vt:lpstr>
      <vt:lpstr>LITERATURE SURVEY</vt:lpstr>
      <vt:lpstr>Optimizing Traffic Speed Prediction Using a Multi-Objective Genetic Algorithm-Enhanced RNN for Intelligent Transportation Systems Author: C .Swetha Priya and F .Sagayaraj Francis </vt:lpstr>
      <vt:lpstr> Performance and improvement of deep learning algorithms based on LSTM in traffic flow prediction Author: Wei Xu1, Eric Blancaflor , Mideth Abisado1 </vt:lpstr>
      <vt:lpstr>  A novel CNN‑GRU‑LSTM based deep learning model for accurate traffic prediction Author: Vandana Singh1, Sudip Kumar Sahana1,Vandana Bhattacharjee1 </vt:lpstr>
      <vt:lpstr>SYSTEM REQUIREMENTS</vt:lpstr>
      <vt:lpstr>PowerPoint Presentation</vt:lpstr>
      <vt:lpstr>DATA FLOW DIAGRAM LEVEL 0 </vt:lpstr>
      <vt:lpstr>DATA FLOW DIAGRAM LEVEL 1 </vt:lpstr>
      <vt:lpstr>DATA FLOW DIAGRAM LEVEL 2 </vt:lpstr>
      <vt:lpstr>DATA FLOW DIAGRAM LEVEL 2(Contd.) </vt:lpstr>
      <vt:lpstr>MODULES AND MODULES DESCRIPTION</vt:lpstr>
      <vt:lpstr>MODULES</vt:lpstr>
      <vt:lpstr>1.DATA COLLECTION MODULE</vt:lpstr>
      <vt:lpstr> 2. DATA PREPROCESSING MODULE  </vt:lpstr>
      <vt:lpstr> 3. FEATURE ENGINEERING MODULE </vt:lpstr>
      <vt:lpstr>4. LSTM MODEL DEVELOPMENT MODULE </vt:lpstr>
      <vt:lpstr>5.TRAFFIC PREDICTION MODULE</vt:lpstr>
      <vt:lpstr> 6.   CONGESTION ANALYSIS AND      VISUALIZATION MODULE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Visualization using A priori Algorithmic approach in Virtual Machine Environments</dc:title>
  <dc:creator>ADMIN</dc:creator>
  <cp:lastModifiedBy>Johnson Yovanraj</cp:lastModifiedBy>
  <cp:revision>637</cp:revision>
  <dcterms:created xsi:type="dcterms:W3CDTF">2013-08-21T18:55:42Z</dcterms:created>
  <dcterms:modified xsi:type="dcterms:W3CDTF">2026-05-09T18:57:40Z</dcterms:modified>
</cp:coreProperties>
</file>