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9" r:id="rId5"/>
    <p:sldId id="270" r:id="rId6"/>
    <p:sldId id="262" r:id="rId7"/>
    <p:sldId id="264" r:id="rId8"/>
    <p:sldId id="265" r:id="rId9"/>
    <p:sldId id="266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65681D-CC3D-4096-BAD9-BEAAA14DC944}" v="31" dt="2026-01-25T14:29:46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>
      <p:cViewPr varScale="1">
        <p:scale>
          <a:sx n="91" d="100"/>
          <a:sy n="91" d="100"/>
        </p:scale>
        <p:origin x="123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son Yovanraj" userId="6cb9577bf13dfa8d" providerId="LiveId" clId="{A9DCFA10-B552-4B0C-9CBA-B4AFA6BC5D72}"/>
    <pc:docChg chg="undo custSel modSld">
      <pc:chgData name="Johnson Yovanraj" userId="6cb9577bf13dfa8d" providerId="LiveId" clId="{A9DCFA10-B552-4B0C-9CBA-B4AFA6BC5D72}" dt="2026-01-25T14:33:00.737" v="496" actId="27636"/>
      <pc:docMkLst>
        <pc:docMk/>
      </pc:docMkLst>
      <pc:sldChg chg="modSp mod">
        <pc:chgData name="Johnson Yovanraj" userId="6cb9577bf13dfa8d" providerId="LiveId" clId="{A9DCFA10-B552-4B0C-9CBA-B4AFA6BC5D72}" dt="2026-01-25T13:52:09.878" v="45" actId="1076"/>
        <pc:sldMkLst>
          <pc:docMk/>
          <pc:sldMk cId="0" sldId="257"/>
        </pc:sldMkLst>
        <pc:spChg chg="mod">
          <ac:chgData name="Johnson Yovanraj" userId="6cb9577bf13dfa8d" providerId="LiveId" clId="{A9DCFA10-B552-4B0C-9CBA-B4AFA6BC5D72}" dt="2026-01-09T05:37:43.962" v="25" actId="14100"/>
          <ac:spMkLst>
            <pc:docMk/>
            <pc:sldMk cId="0" sldId="257"/>
            <ac:spMk id="1048605" creationId="{00000000-0000-0000-0000-000000000000}"/>
          </ac:spMkLst>
        </pc:spChg>
        <pc:spChg chg="mod">
          <ac:chgData name="Johnson Yovanraj" userId="6cb9577bf13dfa8d" providerId="LiveId" clId="{A9DCFA10-B552-4B0C-9CBA-B4AFA6BC5D72}" dt="2026-01-25T13:52:09.878" v="45" actId="1076"/>
          <ac:spMkLst>
            <pc:docMk/>
            <pc:sldMk cId="0" sldId="257"/>
            <ac:spMk id="1048606" creationId="{00000000-0000-0000-0000-000000000000}"/>
          </ac:spMkLst>
        </pc:spChg>
        <pc:spChg chg="mod">
          <ac:chgData name="Johnson Yovanraj" userId="6cb9577bf13dfa8d" providerId="LiveId" clId="{A9DCFA10-B552-4B0C-9CBA-B4AFA6BC5D72}" dt="2026-01-09T05:37:35.269" v="24" actId="20577"/>
          <ac:spMkLst>
            <pc:docMk/>
            <pc:sldMk cId="0" sldId="257"/>
            <ac:spMk id="1048607" creationId="{00000000-0000-0000-0000-000000000000}"/>
          </ac:spMkLst>
        </pc:spChg>
      </pc:sldChg>
      <pc:sldChg chg="modSp mod">
        <pc:chgData name="Johnson Yovanraj" userId="6cb9577bf13dfa8d" providerId="LiveId" clId="{A9DCFA10-B552-4B0C-9CBA-B4AFA6BC5D72}" dt="2026-01-25T13:57:27.141" v="48" actId="27636"/>
        <pc:sldMkLst>
          <pc:docMk/>
          <pc:sldMk cId="0" sldId="258"/>
        </pc:sldMkLst>
        <pc:spChg chg="mod">
          <ac:chgData name="Johnson Yovanraj" userId="6cb9577bf13dfa8d" providerId="LiveId" clId="{A9DCFA10-B552-4B0C-9CBA-B4AFA6BC5D72}" dt="2026-01-25T13:57:27.141" v="48" actId="27636"/>
          <ac:spMkLst>
            <pc:docMk/>
            <pc:sldMk cId="0" sldId="258"/>
            <ac:spMk id="1048611" creationId="{00000000-0000-0000-0000-000000000000}"/>
          </ac:spMkLst>
        </pc:spChg>
      </pc:sldChg>
      <pc:sldChg chg="modSp mod">
        <pc:chgData name="Johnson Yovanraj" userId="6cb9577bf13dfa8d" providerId="LiveId" clId="{A9DCFA10-B552-4B0C-9CBA-B4AFA6BC5D72}" dt="2026-01-09T05:39:21.304" v="28" actId="27636"/>
        <pc:sldMkLst>
          <pc:docMk/>
          <pc:sldMk cId="0" sldId="260"/>
        </pc:sldMkLst>
      </pc:sldChg>
      <pc:sldChg chg="modSp mod">
        <pc:chgData name="Johnson Yovanraj" userId="6cb9577bf13dfa8d" providerId="LiveId" clId="{A9DCFA10-B552-4B0C-9CBA-B4AFA6BC5D72}" dt="2026-01-09T05:40:25.358" v="29" actId="255"/>
        <pc:sldMkLst>
          <pc:docMk/>
          <pc:sldMk cId="0" sldId="263"/>
        </pc:sldMkLst>
        <pc:spChg chg="mod">
          <ac:chgData name="Johnson Yovanraj" userId="6cb9577bf13dfa8d" providerId="LiveId" clId="{A9DCFA10-B552-4B0C-9CBA-B4AFA6BC5D72}" dt="2026-01-09T05:40:25.358" v="29" actId="255"/>
          <ac:spMkLst>
            <pc:docMk/>
            <pc:sldMk cId="0" sldId="263"/>
            <ac:spMk id="1048599" creationId="{00000000-0000-0000-0000-000000000000}"/>
          </ac:spMkLst>
        </pc:spChg>
      </pc:sldChg>
      <pc:sldChg chg="addSp modSp mod">
        <pc:chgData name="Johnson Yovanraj" userId="6cb9577bf13dfa8d" providerId="LiveId" clId="{A9DCFA10-B552-4B0C-9CBA-B4AFA6BC5D72}" dt="2026-01-25T14:33:00.737" v="496" actId="27636"/>
        <pc:sldMkLst>
          <pc:docMk/>
          <pc:sldMk cId="0" sldId="264"/>
        </pc:sldMkLst>
        <pc:spChg chg="add">
          <ac:chgData name="Johnson Yovanraj" userId="6cb9577bf13dfa8d" providerId="LiveId" clId="{A9DCFA10-B552-4B0C-9CBA-B4AFA6BC5D72}" dt="2026-01-25T14:11:28.915" v="227"/>
          <ac:spMkLst>
            <pc:docMk/>
            <pc:sldMk cId="0" sldId="264"/>
            <ac:spMk id="2" creationId="{90B2BC52-D51F-7457-D569-0FCCC9A004C9}"/>
          </ac:spMkLst>
        </pc:spChg>
        <pc:spChg chg="add mod">
          <ac:chgData name="Johnson Yovanraj" userId="6cb9577bf13dfa8d" providerId="LiveId" clId="{A9DCFA10-B552-4B0C-9CBA-B4AFA6BC5D72}" dt="2026-01-25T14:11:57.896" v="232" actId="1076"/>
          <ac:spMkLst>
            <pc:docMk/>
            <pc:sldMk cId="0" sldId="264"/>
            <ac:spMk id="3" creationId="{888635D7-A991-A409-9232-0525F58D75B8}"/>
          </ac:spMkLst>
        </pc:spChg>
        <pc:spChg chg="add mod">
          <ac:chgData name="Johnson Yovanraj" userId="6cb9577bf13dfa8d" providerId="LiveId" clId="{A9DCFA10-B552-4B0C-9CBA-B4AFA6BC5D72}" dt="2026-01-25T14:12:39.036" v="238"/>
          <ac:spMkLst>
            <pc:docMk/>
            <pc:sldMk cId="0" sldId="264"/>
            <ac:spMk id="4" creationId="{74FD51C2-D43D-0F46-B5BD-7A7875D85981}"/>
          </ac:spMkLst>
        </pc:spChg>
        <pc:spChg chg="mod">
          <ac:chgData name="Johnson Yovanraj" userId="6cb9577bf13dfa8d" providerId="LiveId" clId="{A9DCFA10-B552-4B0C-9CBA-B4AFA6BC5D72}" dt="2026-01-25T14:33:00.737" v="496" actId="27636"/>
          <ac:spMkLst>
            <pc:docMk/>
            <pc:sldMk cId="0" sldId="264"/>
            <ac:spMk id="1048597" creationId="{00000000-0000-0000-0000-000000000000}"/>
          </ac:spMkLst>
        </pc:spChg>
      </pc:sldChg>
      <pc:sldChg chg="addSp delSp modSp mod">
        <pc:chgData name="Johnson Yovanraj" userId="6cb9577bf13dfa8d" providerId="LiveId" clId="{A9DCFA10-B552-4B0C-9CBA-B4AFA6BC5D72}" dt="2026-01-25T14:32:53.659" v="494" actId="20577"/>
        <pc:sldMkLst>
          <pc:docMk/>
          <pc:sldMk cId="0" sldId="265"/>
        </pc:sldMkLst>
        <pc:spChg chg="add mod">
          <ac:chgData name="Johnson Yovanraj" userId="6cb9577bf13dfa8d" providerId="LiveId" clId="{A9DCFA10-B552-4B0C-9CBA-B4AFA6BC5D72}" dt="2026-01-25T14:13:19.162" v="370"/>
          <ac:spMkLst>
            <pc:docMk/>
            <pc:sldMk cId="0" sldId="265"/>
            <ac:spMk id="2" creationId="{5BCD96C5-B7B1-358E-97E9-B41E201949C2}"/>
          </ac:spMkLst>
        </pc:spChg>
        <pc:spChg chg="add del mod">
          <ac:chgData name="Johnson Yovanraj" userId="6cb9577bf13dfa8d" providerId="LiveId" clId="{A9DCFA10-B552-4B0C-9CBA-B4AFA6BC5D72}" dt="2026-01-25T14:32:53.659" v="494" actId="20577"/>
          <ac:spMkLst>
            <pc:docMk/>
            <pc:sldMk cId="0" sldId="265"/>
            <ac:spMk id="1048594" creationId="{00000000-0000-0000-0000-000000000000}"/>
          </ac:spMkLst>
        </pc:spChg>
      </pc:sldChg>
      <pc:sldChg chg="modSp mod">
        <pc:chgData name="Johnson Yovanraj" userId="6cb9577bf13dfa8d" providerId="LiveId" clId="{A9DCFA10-B552-4B0C-9CBA-B4AFA6BC5D72}" dt="2026-01-09T05:41:36.265" v="31" actId="2711"/>
        <pc:sldMkLst>
          <pc:docMk/>
          <pc:sldMk cId="0" sldId="267"/>
        </pc:sldMkLst>
        <pc:spChg chg="mod">
          <ac:chgData name="Johnson Yovanraj" userId="6cb9577bf13dfa8d" providerId="LiveId" clId="{A9DCFA10-B552-4B0C-9CBA-B4AFA6BC5D72}" dt="2026-01-09T05:41:36.265" v="31" actId="2711"/>
          <ac:spMkLst>
            <pc:docMk/>
            <pc:sldMk cId="0" sldId="267"/>
            <ac:spMk id="1048591" creationId="{00000000-0000-0000-0000-000000000000}"/>
          </ac:spMkLst>
        </pc:spChg>
        <pc:spChg chg="mod">
          <ac:chgData name="Johnson Yovanraj" userId="6cb9577bf13dfa8d" providerId="LiveId" clId="{A9DCFA10-B552-4B0C-9CBA-B4AFA6BC5D72}" dt="2026-01-09T05:41:13.918" v="30" actId="2711"/>
          <ac:spMkLst>
            <pc:docMk/>
            <pc:sldMk cId="0" sldId="267"/>
            <ac:spMk id="104859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04866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274FC-FEBD-4950-902E-2813466A1D59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104866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4866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04866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19D78-6902-461C-97CB-29D788CA904F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19D78-6902-461C-97CB-29D788CA904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924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01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0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BCCEB-6DF4-403B-9D84-C520D9ECFBA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104860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0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BCCEB-6DF4-403B-9D84-C520D9ECFBA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104858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BCCEB-6DF4-403B-9D84-C520D9ECFBA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3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BCCEB-6DF4-403B-9D84-C520D9ECFBA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104864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4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9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1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BCCEB-6DF4-403B-9D84-C520D9ECFBA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104865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5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BCCEB-6DF4-403B-9D84-C520D9ECFBA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104858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8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BCCEB-6DF4-403B-9D84-C520D9ECFBA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104865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5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9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BCCEB-6DF4-403B-9D84-C520D9ECFBA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10486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2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04862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BCCEB-6DF4-403B-9D84-C520D9ECFBA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104862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BCCEB-6DF4-403B-9D84-C520D9ECFBA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2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BCCEB-6DF4-403B-9D84-C520D9ECFBA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EB60E-8CC1-451C-9B62-D60627ACAA6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BCCEB-6DF4-403B-9D84-C520D9ECFBA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EB60E-8CC1-451C-9B62-D60627ACAA6A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ctrTitle"/>
          </p:nvPr>
        </p:nvSpPr>
        <p:spPr>
          <a:xfrm>
            <a:off x="261784" y="3928008"/>
            <a:ext cx="8539316" cy="762000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itchFamily="18" charset="0"/>
              </a:rPr>
              <a:t>Design and Development of an Intelligent Real-Time Traffic Flow Prediction and Congestion Analysis System Using Long Short-Term Memory (LSTM) Deep Learning Networks</a:t>
            </a:r>
          </a:p>
        </p:txBody>
      </p:sp>
      <p:sp>
        <p:nvSpPr>
          <p:cNvPr id="1048606" name="Subtitle 2"/>
          <p:cNvSpPr txBox="1"/>
          <p:nvPr/>
        </p:nvSpPr>
        <p:spPr>
          <a:xfrm>
            <a:off x="6019800" y="5382237"/>
            <a:ext cx="2862416" cy="990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itchFamily="18" charset="0"/>
              </a:rPr>
              <a:t>GUIDED BY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itchFamily="18" charset="0"/>
              </a:rPr>
              <a:t>Ms. A. Sunitha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 M.E, (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Ph.d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)</a:t>
            </a:r>
            <a:r>
              <a:rPr lang="zh-CN" alt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itchFamily="18" charset="0"/>
              </a:rPr>
              <a:t>AP/CSE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07" name="TextBox 3"/>
          <p:cNvSpPr txBox="1">
            <a:spLocks noChangeArrowheads="1"/>
          </p:cNvSpPr>
          <p:nvPr/>
        </p:nvSpPr>
        <p:spPr bwMode="auto">
          <a:xfrm>
            <a:off x="261784" y="5046363"/>
            <a:ext cx="4843616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JOHNSON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(REG NO:212922104025)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EVARENCE BESKI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NO:212922104016)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YEAR  B.E (CSE)</a:t>
            </a:r>
          </a:p>
        </p:txBody>
      </p:sp>
      <p:sp>
        <p:nvSpPr>
          <p:cNvPr id="1048608" name="Rectangle 3"/>
          <p:cNvSpPr txBox="1">
            <a:spLocks noChangeArrowheads="1"/>
          </p:cNvSpPr>
          <p:nvPr/>
        </p:nvSpPr>
        <p:spPr bwMode="auto">
          <a:xfrm>
            <a:off x="304800" y="1752600"/>
            <a:ext cx="8539316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 algn="ctr">
              <a:spcBef>
                <a:spcPct val="20000"/>
              </a:spcBef>
              <a:buFont typeface="Arial" charset="0"/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Times New Roman" pitchFamily="18" charset="0"/>
              </a:rPr>
              <a:t>DEPARTMENT OF  COMPUTER SCIENCE AND ENGINEERING</a:t>
            </a:r>
            <a:r>
              <a:rPr lang="en-US" sz="2000" b="1" dirty="0">
                <a:solidFill>
                  <a:schemeClr val="tx1">
                    <a:tint val="75000"/>
                  </a:schemeClr>
                </a:solidFill>
                <a:latin typeface="Algerian" panose="04020705040A02060702" pitchFamily="82" charset="0"/>
                <a:cs typeface="Times New Roman" pitchFamily="18" charset="0"/>
              </a:rPr>
              <a:t>      </a:t>
            </a:r>
          </a:p>
          <a:p>
            <a:pPr algn="ctr">
              <a:spcBef>
                <a:spcPct val="20000"/>
              </a:spcBef>
              <a:buFont typeface="Arial" charset="0"/>
              <a:buNone/>
            </a:pPr>
            <a:endParaRPr lang="en-US" sz="2000" b="1" dirty="0">
              <a:solidFill>
                <a:schemeClr val="tx1">
                  <a:tint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1048609" name="Rectangle 10"/>
          <p:cNvSpPr/>
          <p:nvPr/>
        </p:nvSpPr>
        <p:spPr>
          <a:xfrm>
            <a:off x="152400" y="152400"/>
            <a:ext cx="8839200" cy="657655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9715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158" y="2153378"/>
            <a:ext cx="1259683" cy="1259683"/>
          </a:xfrm>
          <a:prstGeom prst="rect">
            <a:avLst/>
          </a:prstGeom>
        </p:spPr>
      </p:pic>
      <p:pic>
        <p:nvPicPr>
          <p:cNvPr id="2097153" name="Picture 3"/>
          <p:cNvPicPr>
            <a:picLocks noChangeAspect="1"/>
          </p:cNvPicPr>
          <p:nvPr/>
        </p:nvPicPr>
        <p:blipFill>
          <a:blip r:embed="rId3"/>
          <a:srcRect l="951" t="7900" r="892" b="5188"/>
          <a:stretch>
            <a:fillRect/>
          </a:stretch>
        </p:blipFill>
        <p:spPr>
          <a:xfrm>
            <a:off x="261784" y="399871"/>
            <a:ext cx="8620432" cy="12765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sz="4000" dirty="0"/>
          </a:p>
        </p:txBody>
      </p:sp>
      <p:sp>
        <p:nvSpPr>
          <p:cNvPr id="1048611" name="Content Placeholder 2"/>
          <p:cNvSpPr>
            <a:spLocks noGrp="1"/>
          </p:cNvSpPr>
          <p:nvPr>
            <p:ph idx="1"/>
          </p:nvPr>
        </p:nvSpPr>
        <p:spPr>
          <a:xfrm>
            <a:off x="304800" y="1408550"/>
            <a:ext cx="8686800" cy="4343400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congestion is a major problem in urban areas, causing delays, fuel wastage, and pollution. Accurate real-time traffic prediction is essential for smart transportation systems.</a:t>
            </a:r>
          </a:p>
          <a:p>
            <a:pPr algn="just">
              <a:lnSpc>
                <a:spcPct val="17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statistical and machine learning models fail to effectively capture long-term temporal dependencies in traffic time-series data.</a:t>
            </a:r>
          </a:p>
          <a:p>
            <a:pPr algn="just">
              <a:lnSpc>
                <a:spcPct val="17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intelligent real-time traffic flow prediction and congestion analysis system using Long Short-Term Memory (LSTM) deep learning networks to improve forecasting accuracy.</a:t>
            </a:r>
          </a:p>
          <a:p>
            <a:pPr algn="just">
              <a:lnSpc>
                <a:spcPct val="170000"/>
              </a:lnSpc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predicts short-term traffic flow and classifies congestion levels, helping authorities and commuters make better route decisions.</a:t>
            </a:r>
          </a:p>
          <a:p>
            <a:pPr algn="just">
              <a:lnSpc>
                <a:spcPct val="150000"/>
              </a:lnSpc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dirty="0"/>
          </a:p>
        </p:txBody>
      </p:sp>
      <p:sp>
        <p:nvSpPr>
          <p:cNvPr id="104861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 fontScale="95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and implement an LSTM-based real-time traffic flow prediction and congestion analysis system that improves short-term forecasting accuracy using time-series traffic data.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C012-9BF5-0393-78DB-5F247B86E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EXISTING SYSTEM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6FB5C39-CC8E-25D3-FCB7-0D36DF4B10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6750" y="1417638"/>
            <a:ext cx="7810500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 prediction mainly uses statistical models like ARIMA and traditional machine learning algorithms such as Linear Regression and SVM.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cannot effectively capture long-term temporal dependencies present in traffic time-series data.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 accuracy decreases during peak hours and dynamic traffic conditions.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are not optimized for real-time congestion analysis in smart transportation environments</a:t>
            </a:r>
          </a:p>
        </p:txBody>
      </p:sp>
    </p:spTree>
    <p:extLst>
      <p:ext uri="{BB962C8B-B14F-4D97-AF65-F5344CB8AC3E}">
        <p14:creationId xmlns:p14="http://schemas.microsoft.com/office/powerpoint/2010/main" val="2520982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184A0-8CA9-545A-E29D-748C6B7E4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PROPOSED SYSTEM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547FDD-12A0-324A-7E3B-71065F1CB1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2900" y="1676400"/>
            <a:ext cx="8801100" cy="4631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Long Short-Term Memory (LSTM) deep learning networks to model sequential traffic data.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captures long-term temporal patterns and improves short-term traffic flow forecasting accuracy.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performs real-time traffic prediction and classifies congestion levels (Low, Medium, High).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scalable and suitable for intelligent transportation and smart city applications.</a:t>
            </a:r>
          </a:p>
        </p:txBody>
      </p:sp>
    </p:spTree>
    <p:extLst>
      <p:ext uri="{BB962C8B-B14F-4D97-AF65-F5344CB8AC3E}">
        <p14:creationId xmlns:p14="http://schemas.microsoft.com/office/powerpoint/2010/main" val="88518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S/W &amp;H/W REQUIREMENTS</a:t>
            </a:r>
            <a:endParaRPr lang="en-US" sz="4000" dirty="0"/>
          </a:p>
        </p:txBody>
      </p:sp>
      <p:sp>
        <p:nvSpPr>
          <p:cNvPr id="1048619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 fontScale="6375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Operating System                          :            Windows / Linux/MacOS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Programming Language                :             Python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Framework            :            TensorFlow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Libraries                                         :            OpenCV, NumPy,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 / Tool                                      :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/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                                      :             Intel i5 or higher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                                            :             Minimum 8 GB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                                         :             256 GB HDD / SSD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GPU (Optional)                             :             NVIDIA GPU for faster training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PAPER 1</a:t>
            </a:r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: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Traffic Speed Prediction Using a Multi-Objective Genetic Algorithm-Enhanced RNN for Intelligent Transportation Systems</a:t>
            </a:r>
          </a:p>
          <a:p>
            <a:pPr marL="0" indent="0" algn="just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C.SWETHA PRIYA ANDF.SAGAYARAJ FRANCIS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marL="0" indent="0" algn="just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 algn="just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This paper proposes a Multi-Objective Genetic Algorithm enhanced Recurrent Neural Network (RNN) model to optimize traffic speed prediction accuracy and model performance for intelligent transportation systems.</a:t>
            </a:r>
            <a:endParaRPr lang="en-US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algn="just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Multi-objective optimization improves prediction accuracy and model efficiency simultaneously.</a:t>
            </a:r>
          </a:p>
          <a:p>
            <a:pPr algn="just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RNN performance by automatically selecting optimal hyperparameters.</a:t>
            </a:r>
          </a:p>
          <a:p>
            <a:pPr algn="just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intelligent transportation systems requiring optimized and adaptive traffic speed prediction</a:t>
            </a:r>
          </a:p>
          <a:p>
            <a:pPr marL="0" indent="0" algn="just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algn="just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Genetic Algorithm with RNN increases computational complexity and processing time.</a:t>
            </a:r>
          </a:p>
          <a:p>
            <a:pPr algn="just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careful parameter tuning for both the Genetic Algorithm and RNN to achieve optimal performance.</a:t>
            </a:r>
          </a:p>
          <a:p>
            <a:pPr algn="just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implementation complexity compared to standard deep learning models</a:t>
            </a:r>
          </a:p>
          <a:p>
            <a:pPr marL="0" indent="0">
              <a:buNone/>
            </a:pP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72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CBD14120-5CF9-4A87-251D-F6C33B5A6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PAPER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off x="381000" y="1417638"/>
            <a:ext cx="8229600" cy="5165724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and improvement of deep learning algorithms based on LSTM in traffic flow prediction</a:t>
            </a:r>
          </a:p>
          <a:p>
            <a:pPr marL="0" indent="0" algn="just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Author: </a:t>
            </a:r>
            <a:r>
              <a:rPr lang="es-E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 Xu1, Eric </a:t>
            </a:r>
            <a:r>
              <a:rPr lang="es-E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Blancaflor</a:t>
            </a:r>
            <a:r>
              <a:rPr lang="es-E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s-E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Mideth</a:t>
            </a:r>
            <a:r>
              <a:rPr lang="es-E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Abisado1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  <a:p>
            <a:pPr marL="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This paper analyzes the performance of Long Short-Term Memory (LSTM) deep learning models and proposes improvements to enhance accuracy in traffic flow prediction for intelligent transportation systems.</a:t>
            </a:r>
          </a:p>
          <a:p>
            <a:pPr marL="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effectively captures long-term temporal dependencies in traffic time-series data.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higher prediction accuracy compared to traditional statistical models.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real-time traffic flow forecasting in intelligent transportation systems.</a:t>
            </a:r>
          </a:p>
          <a:p>
            <a:pPr marL="0" indent="0" algn="just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models require large amounts of historical traffic data for effective training.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deep learning models like LSTM can take longer computational time.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may decrease if traffic data contains noise or missing values.</a:t>
            </a:r>
          </a:p>
          <a:p>
            <a:pPr marL="0" indent="0"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04858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PAPER 3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BEDB48-F179-C316-F7E8-17F36974DEF4}"/>
              </a:ext>
            </a:extLst>
          </p:cNvPr>
          <p:cNvSpPr txBox="1"/>
          <p:nvPr/>
        </p:nvSpPr>
        <p:spPr>
          <a:xfrm>
            <a:off x="381000" y="1486873"/>
            <a:ext cx="85344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novel CNN‑GRU‑LSTM based deep learning model for accurate traffic prediction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Vandana Singh1, Sudip Kumar Sahana1,Vandana Bhattacharjee1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This paper proposes a hybrid deep learning architecture combining CNN, GRU, and LSTM networks to improve traffic flow prediction accuracy by capturing both spatial and temporal traffic patterns.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both spatial features (via CNN) and temporal dependencies (via GRU and LSTM).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higher prediction accuracy compared to traditional and single deep learning models.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complex urban traffic environments with dynamic traffic variations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 CNN-GRU-LSTM model increases computational complexity and training time.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large-scale traffic datasets for effective performance.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implementation complexity compared to single-model approaches like LSTM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04859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LSTM-based traffic flow prediction system provides improved forecasting accuracy by effectively learning temporal traffic patterns. It supports intelligent transportation management by enabling real-time congestion analysis. The system can be further extended with IoT integration and advanced deep learning models for enhanced smart city applications</a:t>
            </a:r>
            <a:r>
              <a:rPr lang="en-US" sz="2800" dirty="0"/>
              <a:t>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136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You…!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866</Words>
  <Application>Microsoft Office PowerPoint</Application>
  <PresentationFormat>On-screen Show (4:3)</PresentationFormat>
  <Paragraphs>115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Algerian</vt:lpstr>
      <vt:lpstr>Arial</vt:lpstr>
      <vt:lpstr>Calibri</vt:lpstr>
      <vt:lpstr>Times New Roman</vt:lpstr>
      <vt:lpstr>Office Theme</vt:lpstr>
      <vt:lpstr>Design and Development of an Intelligent Real-Time Traffic Flow Prediction and Congestion Analysis System Using Long Short-Term Memory (LSTM) Deep Learning Networks</vt:lpstr>
      <vt:lpstr>ABSTRACT</vt:lpstr>
      <vt:lpstr>OBJECTIVE</vt:lpstr>
      <vt:lpstr>EXISTING SYSTEM</vt:lpstr>
      <vt:lpstr>PROPOSED SYSTEM</vt:lpstr>
      <vt:lpstr>S/W &amp;H/W REQUIREMENTS</vt:lpstr>
      <vt:lpstr>SURVEY PAPER 1</vt:lpstr>
      <vt:lpstr>SURVEY PAPER 2</vt:lpstr>
      <vt:lpstr>SURVEY PAPER 3</vt:lpstr>
      <vt:lpstr>Conclusion</vt:lpstr>
      <vt:lpstr>Thank You…!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Visualization using A priori Algorithmic approach in Virtual Machine Environments</dc:title>
  <dc:creator>ADMIN</dc:creator>
  <cp:lastModifiedBy>Johnson Yovanraj</cp:lastModifiedBy>
  <cp:revision>11</cp:revision>
  <dcterms:created xsi:type="dcterms:W3CDTF">2013-08-19T22:55:42Z</dcterms:created>
  <dcterms:modified xsi:type="dcterms:W3CDTF">2026-05-08T07:06:42Z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a957f4838401406dbe8d15b41b5536e9</vt:lpwstr>
  </property>
</Properties>
</file>